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69" r:id="rId2"/>
    <p:sldId id="270" r:id="rId3"/>
    <p:sldId id="257" r:id="rId4"/>
    <p:sldId id="258" r:id="rId5"/>
    <p:sldId id="271" r:id="rId6"/>
    <p:sldId id="273" r:id="rId7"/>
    <p:sldId id="278" r:id="rId8"/>
    <p:sldId id="279" r:id="rId9"/>
    <p:sldId id="280" r:id="rId10"/>
    <p:sldId id="275" r:id="rId11"/>
    <p:sldId id="276" r:id="rId12"/>
    <p:sldId id="277" r:id="rId13"/>
    <p:sldId id="281" r:id="rId14"/>
    <p:sldId id="282" r:id="rId15"/>
    <p:sldId id="268" r:id="rId16"/>
    <p:sldId id="272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4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4:40:35.82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6553,'0'0'0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4:40:37.2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6553,'0'0'0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2T04:40:59.4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77F6-EE42-C9EF-0A6A-8E3AB6AF4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DC111-2174-D85E-8557-115523E06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3D213-4CF3-DFAB-2C08-8F2947B6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75F92-B42D-BF20-7B57-F36D829D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157AF-8576-7292-8301-2EB31E70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7F1A-9D5B-541B-CDCA-3336451E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C725-AB33-E893-C9CD-FF7677B1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093AD-4746-E4B7-2D53-3E3E015C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5111C-EE85-55EE-8A06-32A08A28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21516-2AF7-E7B6-9A30-DF4089F7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5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8087-33F4-8974-0AAB-9AE738E6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1EAD7-2A8C-C0FD-3B5C-0B2C895BC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A3F7-FD08-ECD4-FF6A-B3E9734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80BCC-4A01-949B-AE9B-54431D1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85A2-AB66-58CA-B15A-E985CA8F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8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4CB-3344-5B91-EBD4-03245D1B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B198-3990-D48E-0AB0-A1FE49B26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C0EB-4CED-8379-C252-F8DC8B26E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E6BD5-8EA9-6E0C-8311-E175C5EA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F94D3-4BDE-BF4C-334C-4DF2B76C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DDE96-B26F-880B-D216-120B3FA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5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1E0BE-DFF3-9866-AD7D-ACE82184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40AA7-3F85-8BA7-43AE-11270391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548E3-9A19-19C4-D644-049ABE2AA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F0BE6-56C2-B711-3DFB-45122D882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E4713-90DB-7391-BEE6-59C968A85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1FA6E-9C81-96D8-2E54-7FAA6C5D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6A929-2D57-44CC-057E-8B98E775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2CDFF-8560-F321-434A-075EA215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CA68-9CB5-B3FB-FCEC-A72B8D64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9184D-33F7-7CB7-9869-F1379201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CB0FF-1591-37F7-A9EB-FBCAD58B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B107E-C11C-39D7-BA7E-E66396F6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2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1A030-746B-838D-083F-E868B6C1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5D4B3-A3BA-8B71-E936-68F7CCC2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C8EC0-1964-4547-58AF-498C6E8A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5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E77B-A5BE-3F21-91F2-B322C7C7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F668-95D6-D4E5-41F3-5A4E1B3B4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2B6DA-3D5E-6454-566A-1FBB3ABA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289B9-C146-9E62-2815-1F9DF001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11410-9F15-2D1C-3736-C292D8BE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FE9E-A65E-2E41-4D27-13D90C49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489A-8459-C4E6-F429-D6A4DFE9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820B3-1BEA-93EE-D457-B068F33BC6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B22CF-06B0-9BBE-917A-147E7A85C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52A11-929C-C20F-4AAF-2709FE2A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568D-1BBC-602A-617E-B1192EE2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90C9B-7005-4EDF-FDE5-659469E4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366A-205B-A134-563B-66B24A8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D99DA-D8F4-C293-F8B5-E1F646430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0C7F-6608-3867-B9FB-9A047432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4C6CC-3B1A-8073-CAF1-9856A7D4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A3AD5-F6A8-9A92-2175-4507DE2A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360D4-0F7B-EC58-3C41-90EC2F743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05C57-1447-07A7-03A4-98A552A6C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4BF2-8F82-84C6-C163-87D82361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FB0B5-7B9F-222C-F454-F8FBCAF5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E68CE-9471-5F0B-43BB-D472A3F0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2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1252B-EB34-D076-64BF-19401AD4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8BD8-91CA-94D4-7423-F87AD3E1D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4277F-F607-DBE1-9AC7-541A2F300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A249-4618-A5B8-409E-971EC59BE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7F0FB-6421-3AB9-087F-1A94F0000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9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237E6-ED71-E42C-BD78-0972A3F870F8}"/>
              </a:ext>
            </a:extLst>
          </p:cNvPr>
          <p:cNvSpPr txBox="1"/>
          <p:nvPr/>
        </p:nvSpPr>
        <p:spPr>
          <a:xfrm>
            <a:off x="603379" y="1998260"/>
            <a:ext cx="96229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Mentorship and Guidance Management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3A144-8FF5-9618-4CBA-6918924D7806}"/>
              </a:ext>
            </a:extLst>
          </p:cNvPr>
          <p:cNvSpPr txBox="1"/>
          <p:nvPr/>
        </p:nvSpPr>
        <p:spPr>
          <a:xfrm>
            <a:off x="7383624" y="5257513"/>
            <a:ext cx="4584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latin typeface="Times New Roman"/>
              </a:rPr>
              <a:t>Dheeraj Krushna P(192525230)</a:t>
            </a:r>
            <a:r>
              <a:rPr lang="en-US" dirty="0">
                <a:latin typeface="Times New Roman"/>
              </a:rPr>
              <a:t> CSE(AIML)</a:t>
            </a:r>
            <a:endParaRPr lang="en-US" sz="1800" dirty="0">
              <a:latin typeface="Times New Roman"/>
            </a:endParaRPr>
          </a:p>
          <a:p>
            <a:r>
              <a:rPr lang="en-US" dirty="0">
                <a:latin typeface="Times New Roman"/>
              </a:rPr>
              <a:t>Srikanth(192411139) CSE</a:t>
            </a:r>
          </a:p>
          <a:p>
            <a:r>
              <a:rPr lang="en-US" dirty="0">
                <a:latin typeface="Times New Roman"/>
              </a:rPr>
              <a:t>P. Hemanth Reddy(192311086) CSE(cs)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806C2-B26A-BA40-3FE3-4B9524E436A4}"/>
              </a:ext>
            </a:extLst>
          </p:cNvPr>
          <p:cNvSpPr txBox="1"/>
          <p:nvPr/>
        </p:nvSpPr>
        <p:spPr>
          <a:xfrm>
            <a:off x="709125" y="5317285"/>
            <a:ext cx="2351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/>
              </a:rPr>
              <a:t>PROJECT GUIDE</a:t>
            </a:r>
            <a:endParaRPr lang="en-IN" sz="1800" b="0" i="0" u="none" dirty="0">
              <a:latin typeface="Times New Roman"/>
            </a:endParaRPr>
          </a:p>
          <a:p>
            <a:pPr algn="l"/>
            <a:r>
              <a:rPr lang="en-IN" sz="1800" b="0" i="0" u="none" dirty="0">
                <a:latin typeface="Times New Roman"/>
              </a:rPr>
              <a:t>Dr. </a:t>
            </a:r>
            <a:r>
              <a:rPr lang="en-IN" sz="1800" dirty="0" err="1">
                <a:latin typeface="Times New Roman"/>
              </a:rPr>
              <a:t>Kosalairaman</a:t>
            </a:r>
            <a:endParaRPr lang="en-IN" sz="1800" b="0" i="0" u="none" dirty="0">
              <a:latin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6889C-1117-B03F-4FF0-DD2C0EC52915}"/>
              </a:ext>
            </a:extLst>
          </p:cNvPr>
          <p:cNvSpPr txBox="1"/>
          <p:nvPr/>
        </p:nvSpPr>
        <p:spPr>
          <a:xfrm>
            <a:off x="709125" y="2992342"/>
            <a:ext cx="6096000" cy="73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2400" b="0" i="0" u="none" dirty="0">
                <a:solidFill>
                  <a:srgbClr val="1C1C1C"/>
                </a:solidFill>
                <a:latin typeface="Times New Roman"/>
              </a:rPr>
              <a:t>CSA 4302 Internet Programming</a:t>
            </a:r>
            <a:endParaRPr lang="en-US" sz="2400" b="0" i="1" u="none" dirty="0">
              <a:solidFill>
                <a:srgbClr val="B38754"/>
              </a:solidFill>
              <a:latin typeface="Times New Roman"/>
            </a:endParaRPr>
          </a:p>
        </p:txBody>
      </p:sp>
      <p:grpSp>
        <p:nvGrpSpPr>
          <p:cNvPr id="11" name="object 2">
            <a:extLst>
              <a:ext uri="{FF2B5EF4-FFF2-40B4-BE49-F238E27FC236}">
                <a16:creationId xmlns:a16="http://schemas.microsoft.com/office/drawing/2014/main" id="{95DC2A6A-88CA-E9BE-FA53-518E22867B00}"/>
              </a:ext>
            </a:extLst>
          </p:cNvPr>
          <p:cNvGrpSpPr/>
          <p:nvPr/>
        </p:nvGrpSpPr>
        <p:grpSpPr>
          <a:xfrm>
            <a:off x="367003" y="326402"/>
            <a:ext cx="11559577" cy="1689010"/>
            <a:chOff x="295921" y="326402"/>
            <a:chExt cx="11630660" cy="1877060"/>
          </a:xfrm>
        </p:grpSpPr>
        <p:sp>
          <p:nvSpPr>
            <p:cNvPr id="12" name="object 3">
              <a:extLst>
                <a:ext uri="{FF2B5EF4-FFF2-40B4-BE49-F238E27FC236}">
                  <a16:creationId xmlns:a16="http://schemas.microsoft.com/office/drawing/2014/main" id="{F967C01C-3337-24BB-12F0-1C6717AB4282}"/>
                </a:ext>
              </a:extLst>
            </p:cNvPr>
            <p:cNvSpPr/>
            <p:nvPr/>
          </p:nvSpPr>
          <p:spPr>
            <a:xfrm>
              <a:off x="314958" y="345440"/>
              <a:ext cx="11592560" cy="1838960"/>
            </a:xfrm>
            <a:custGeom>
              <a:avLst/>
              <a:gdLst/>
              <a:ahLst/>
              <a:cxnLst/>
              <a:rect l="l" t="t" r="r" b="b"/>
              <a:pathLst>
                <a:path w="11592560" h="1838960">
                  <a:moveTo>
                    <a:pt x="0" y="0"/>
                  </a:moveTo>
                  <a:lnTo>
                    <a:pt x="11592558" y="0"/>
                  </a:lnTo>
                  <a:lnTo>
                    <a:pt x="11592558" y="1838958"/>
                  </a:lnTo>
                  <a:lnTo>
                    <a:pt x="0" y="1838958"/>
                  </a:lnTo>
                  <a:lnTo>
                    <a:pt x="0" y="0"/>
                  </a:lnTo>
                  <a:close/>
                </a:path>
              </a:pathLst>
            </a:custGeom>
            <a:ln w="380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4">
              <a:extLst>
                <a:ext uri="{FF2B5EF4-FFF2-40B4-BE49-F238E27FC236}">
                  <a16:creationId xmlns:a16="http://schemas.microsoft.com/office/drawing/2014/main" id="{167E065C-1F41-CBD8-88F0-A97C50ED5B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309" y="507709"/>
              <a:ext cx="10972800" cy="11810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671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0538-209D-C78C-3143-6A40A7199BDC}"/>
              </a:ext>
            </a:extLst>
          </p:cNvPr>
          <p:cNvSpPr txBox="1"/>
          <p:nvPr/>
        </p:nvSpPr>
        <p:spPr>
          <a:xfrm>
            <a:off x="659362" y="2084829"/>
            <a:ext cx="10686661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Mentorship and Guidance Management Portal is a centralized platform designed to connect students with mentors.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receive academic support, career guidance, and personalized learning recommendations.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enables efficient mentor allocation, appointment scheduling, and communication between students and mentors.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student progress, collects feedback, and improves the overall mentorship and learning experience.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609EF-D442-AB22-5C81-E12B01C639D4}"/>
              </a:ext>
            </a:extLst>
          </p:cNvPr>
          <p:cNvSpPr txBox="1"/>
          <p:nvPr/>
        </p:nvSpPr>
        <p:spPr>
          <a:xfrm>
            <a:off x="4335624" y="618187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8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80792" y="486697"/>
            <a:ext cx="469679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latin typeface="Times New Roman"/>
              </a:rPr>
              <a:t>PROBLEM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69173-4841-A665-47A6-2AD5DAB583D7}"/>
              </a:ext>
            </a:extLst>
          </p:cNvPr>
          <p:cNvSpPr txBox="1"/>
          <p:nvPr/>
        </p:nvSpPr>
        <p:spPr>
          <a:xfrm>
            <a:off x="491411" y="1682153"/>
            <a:ext cx="111096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Student Information: Student academic records, performance details, and learning goals are maintained separately, making progress tracking difficult.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Mentor Allocation: Assigning suitable mentors to students and managing mentorship appointments can be time-consuming and unorganized.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Guidance and Communication: Students may face difficulties accessing timely academic support, career guidance, and effective communication with mentors.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Progress Monitoring: The absence of systematic feedback collection and progress reports makes it difficult to identify student challenges and measure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186" y="2505807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8186" y="3435387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78186" y="4364968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07633" y="436793"/>
            <a:ext cx="292387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Times New Roman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6950" y="2415480"/>
            <a:ext cx="7353597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1C1C1C"/>
                </a:solidFill>
                <a:latin typeface="Times New Roman"/>
              </a:rPr>
              <a:t>Smart Matching:</a:t>
            </a:r>
            <a:r>
              <a:rPr sz="2400" b="0" i="0" u="none" dirty="0">
                <a:solidFill>
                  <a:srgbClr val="1C1C1C"/>
                </a:solidFill>
                <a:latin typeface="Times New Roman"/>
              </a:rPr>
              <a:t> Pair by exact technical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6950" y="3345060"/>
            <a:ext cx="8952755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1C1C1C"/>
                </a:solidFill>
                <a:latin typeface="Times New Roman"/>
              </a:rPr>
              <a:t>Unified Scheduling:</a:t>
            </a:r>
            <a:r>
              <a:rPr sz="2400" b="0" i="0" u="none" dirty="0">
                <a:solidFill>
                  <a:srgbClr val="1C1C1C"/>
                </a:solidFill>
                <a:latin typeface="Times New Roman"/>
              </a:rPr>
              <a:t> Automate faculty availability blocks.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6950" y="4274641"/>
            <a:ext cx="8923920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>
                <a:solidFill>
                  <a:srgbClr val="1C1C1C"/>
                </a:solidFill>
                <a:latin typeface="Times New Roman"/>
              </a:rPr>
              <a:t>Progress Tracking:</a:t>
            </a:r>
            <a:r>
              <a:rPr sz="2400" b="0" i="0" u="none">
                <a:solidFill>
                  <a:srgbClr val="1C1C1C"/>
                </a:solidFill>
                <a:latin typeface="Times New Roman"/>
              </a:rPr>
              <a:t> Monitor active milestone 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6ACFF5-A368-C0E2-9140-F90B4E60602E}"/>
              </a:ext>
            </a:extLst>
          </p:cNvPr>
          <p:cNvSpPr txBox="1"/>
          <p:nvPr/>
        </p:nvSpPr>
        <p:spPr>
          <a:xfrm>
            <a:off x="684244" y="1830556"/>
            <a:ext cx="86152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and Academic Progress Management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Allocation and Communication Management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Guidance, Feedback and Progress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6AE7B-1007-8C4C-BF27-6AE19E7325F6}"/>
              </a:ext>
            </a:extLst>
          </p:cNvPr>
          <p:cNvSpPr txBox="1"/>
          <p:nvPr/>
        </p:nvSpPr>
        <p:spPr>
          <a:xfrm>
            <a:off x="4460033" y="242595"/>
            <a:ext cx="2260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3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66A56D-07E9-A830-069E-E4B750E8D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06" y="384858"/>
            <a:ext cx="9132425" cy="6088283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5A27524-3881-DAB6-A113-979F8369EA16}"/>
              </a:ext>
            </a:extLst>
          </p:cNvPr>
          <p:cNvSpPr/>
          <p:nvPr/>
        </p:nvSpPr>
        <p:spPr>
          <a:xfrm>
            <a:off x="3828618" y="462059"/>
            <a:ext cx="3937000" cy="742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B6B49-4931-34DC-A2DA-959C62BF34DA}"/>
              </a:ext>
            </a:extLst>
          </p:cNvPr>
          <p:cNvSpPr txBox="1"/>
          <p:nvPr/>
        </p:nvSpPr>
        <p:spPr>
          <a:xfrm>
            <a:off x="3340549" y="373842"/>
            <a:ext cx="5307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D1169F3-FA89-ACF3-9BC0-AF888C598154}"/>
                  </a:ext>
                </a:extLst>
              </p14:cNvPr>
              <p14:cNvContentPartPr/>
              <p14:nvPr/>
            </p14:nvContentPartPr>
            <p14:xfrm>
              <a:off x="5722707" y="134977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D1169F3-FA89-ACF3-9BC0-AF888C59815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04707" y="133177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77AB6A0-4E15-5D4C-55A1-68532501BBE2}"/>
                  </a:ext>
                </a:extLst>
              </p14:cNvPr>
              <p14:cNvContentPartPr/>
              <p14:nvPr/>
            </p14:nvContentPartPr>
            <p14:xfrm>
              <a:off x="4888947" y="158593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77AB6A0-4E15-5D4C-55A1-68532501BB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1307" y="156829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5B82F44-5B7D-11E1-B06E-AEC16F3CEE3B}"/>
                  </a:ext>
                </a:extLst>
              </p14:cNvPr>
              <p14:cNvContentPartPr/>
              <p14:nvPr/>
            </p14:nvContentPartPr>
            <p14:xfrm>
              <a:off x="5994385" y="151429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5B82F44-5B7D-11E1-B06E-AEC16F3CEE3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31385" y="145165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48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3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5" name="Step 1 box"/>
          <p:cNvSpPr/>
          <p:nvPr/>
        </p:nvSpPr>
        <p:spPr>
          <a:xfrm>
            <a:off x="496000" y="1900000"/>
            <a:ext cx="1550000" cy="2150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9DB2D3"/>
            </a:solidFill>
          </a:ln>
        </p:spPr>
        <p:txBody>
          <a:bodyPr wrap="square" lIns="91440" tIns="330000" rIns="91440" bIns="4572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Login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sign-in for students, mentors, and admin.</a:t>
            </a:r>
          </a:p>
        </p:txBody>
      </p:sp>
      <p:sp>
        <p:nvSpPr>
          <p:cNvPr id="6" name="Step 1 number"/>
          <p:cNvSpPr/>
          <p:nvPr/>
        </p:nvSpPr>
        <p:spPr>
          <a:xfrm>
            <a:off x="1061000" y="1690000"/>
            <a:ext cx="420000" cy="4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Arrow 1"/>
          <p:cNvSpPr/>
          <p:nvPr/>
        </p:nvSpPr>
        <p:spPr>
          <a:xfrm>
            <a:off x="2091000" y="2825000"/>
            <a:ext cx="290000" cy="30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/>
          </a:p>
        </p:txBody>
      </p:sp>
      <p:sp>
        <p:nvSpPr>
          <p:cNvPr id="8" name="Step 2 box"/>
          <p:cNvSpPr/>
          <p:nvPr/>
        </p:nvSpPr>
        <p:spPr>
          <a:xfrm>
            <a:off x="2426000" y="1900000"/>
            <a:ext cx="1550000" cy="2150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9DB2D3"/>
            </a:solidFill>
          </a:ln>
        </p:spPr>
        <p:txBody>
          <a:bodyPr wrap="square" lIns="91440" tIns="330000" rIns="91440" bIns="4572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Setup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adds skills, goals, and academic records.</a:t>
            </a:r>
          </a:p>
        </p:txBody>
      </p:sp>
      <p:sp>
        <p:nvSpPr>
          <p:cNvPr id="9" name="Step 2 number"/>
          <p:cNvSpPr/>
          <p:nvPr/>
        </p:nvSpPr>
        <p:spPr>
          <a:xfrm>
            <a:off x="2991000" y="1690000"/>
            <a:ext cx="420000" cy="4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Arrow 2"/>
          <p:cNvSpPr/>
          <p:nvPr/>
        </p:nvSpPr>
        <p:spPr>
          <a:xfrm>
            <a:off x="4021000" y="2825000"/>
            <a:ext cx="290000" cy="30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/>
          </a:p>
        </p:txBody>
      </p:sp>
      <p:sp>
        <p:nvSpPr>
          <p:cNvPr id="11" name="Step 3 box"/>
          <p:cNvSpPr/>
          <p:nvPr/>
        </p:nvSpPr>
        <p:spPr>
          <a:xfrm>
            <a:off x="4356000" y="1900000"/>
            <a:ext cx="1550000" cy="2150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9DB2D3"/>
            </a:solidFill>
          </a:ln>
        </p:spPr>
        <p:txBody>
          <a:bodyPr wrap="square" lIns="91440" tIns="330000" rIns="91440" bIns="4572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Matching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pairs the student with a mentor by skills and interests.</a:t>
            </a:r>
          </a:p>
        </p:txBody>
      </p:sp>
      <p:sp>
        <p:nvSpPr>
          <p:cNvPr id="12" name="Step 3 number"/>
          <p:cNvSpPr/>
          <p:nvPr/>
        </p:nvSpPr>
        <p:spPr>
          <a:xfrm>
            <a:off x="4921000" y="1690000"/>
            <a:ext cx="420000" cy="4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" name="Arrow 3"/>
          <p:cNvSpPr/>
          <p:nvPr/>
        </p:nvSpPr>
        <p:spPr>
          <a:xfrm>
            <a:off x="5951000" y="2825000"/>
            <a:ext cx="290000" cy="30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/>
          </a:p>
        </p:txBody>
      </p:sp>
      <p:sp>
        <p:nvSpPr>
          <p:cNvPr id="14" name="Step 4 box"/>
          <p:cNvSpPr/>
          <p:nvPr/>
        </p:nvSpPr>
        <p:spPr>
          <a:xfrm>
            <a:off x="6286000" y="1900000"/>
            <a:ext cx="1550000" cy="2150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9DB2D3"/>
            </a:solidFill>
          </a:ln>
        </p:spPr>
        <p:txBody>
          <a:bodyPr wrap="square" lIns="91440" tIns="330000" rIns="91440" bIns="4572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Booking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books a slot from the mentor's availability.</a:t>
            </a:r>
          </a:p>
        </p:txBody>
      </p:sp>
      <p:sp>
        <p:nvSpPr>
          <p:cNvPr id="15" name="Step 4 number"/>
          <p:cNvSpPr/>
          <p:nvPr/>
        </p:nvSpPr>
        <p:spPr>
          <a:xfrm>
            <a:off x="6851000" y="1690000"/>
            <a:ext cx="420000" cy="4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Arrow 4"/>
          <p:cNvSpPr/>
          <p:nvPr/>
        </p:nvSpPr>
        <p:spPr>
          <a:xfrm>
            <a:off x="7881000" y="2825000"/>
            <a:ext cx="290000" cy="30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/>
          </a:p>
        </p:txBody>
      </p:sp>
      <p:sp>
        <p:nvSpPr>
          <p:cNvPr id="17" name="Step 5 box"/>
          <p:cNvSpPr/>
          <p:nvPr/>
        </p:nvSpPr>
        <p:spPr>
          <a:xfrm>
            <a:off x="8216000" y="1900000"/>
            <a:ext cx="1550000" cy="2150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9DB2D3"/>
            </a:solidFill>
          </a:ln>
        </p:spPr>
        <p:txBody>
          <a:bodyPr wrap="square" lIns="91440" tIns="330000" rIns="91440" bIns="4572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 and Feedback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guides the student; both submit session feedback.</a:t>
            </a:r>
          </a:p>
        </p:txBody>
      </p:sp>
      <p:sp>
        <p:nvSpPr>
          <p:cNvPr id="18" name="Step 5 number"/>
          <p:cNvSpPr/>
          <p:nvPr/>
        </p:nvSpPr>
        <p:spPr>
          <a:xfrm>
            <a:off x="8781000" y="1690000"/>
            <a:ext cx="420000" cy="4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" name="Arrow 5"/>
          <p:cNvSpPr/>
          <p:nvPr/>
        </p:nvSpPr>
        <p:spPr>
          <a:xfrm>
            <a:off x="9811000" y="2825000"/>
            <a:ext cx="290000" cy="300000"/>
          </a:xfrm>
          <a:prstGeom prst="rightArrow">
            <a:avLst/>
          </a:prstGeom>
          <a:solidFill>
            <a:srgbClr val="2F55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/>
          </a:p>
        </p:txBody>
      </p:sp>
      <p:sp>
        <p:nvSpPr>
          <p:cNvPr id="20" name="Step 6 box"/>
          <p:cNvSpPr/>
          <p:nvPr/>
        </p:nvSpPr>
        <p:spPr>
          <a:xfrm>
            <a:off x="10146000" y="1900000"/>
            <a:ext cx="1550000" cy="2150000"/>
          </a:xfrm>
          <a:prstGeom prst="roundRect">
            <a:avLst>
              <a:gd name="adj" fmla="val 8000"/>
            </a:avLst>
          </a:prstGeom>
          <a:solidFill>
            <a:srgbClr val="EAF0F9"/>
          </a:solidFill>
          <a:ln w="12700">
            <a:solidFill>
              <a:srgbClr val="9DB2D3"/>
            </a:solidFill>
          </a:ln>
        </p:spPr>
        <p:txBody>
          <a:bodyPr wrap="square" lIns="91440" tIns="330000" rIns="91440" bIns="4572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Reports</a:t>
            </a:r>
          </a:p>
          <a:p>
            <a:pPr algn="l">
              <a:spcBef>
                <a:spcPts val="6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Milestones are tracked and reports are generated.</a:t>
            </a:r>
          </a:p>
        </p:txBody>
      </p:sp>
      <p:sp>
        <p:nvSpPr>
          <p:cNvPr id="21" name="Step 6 number"/>
          <p:cNvSpPr/>
          <p:nvPr/>
        </p:nvSpPr>
        <p:spPr>
          <a:xfrm>
            <a:off x="10711000" y="1690000"/>
            <a:ext cx="420000" cy="42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2" name="Feedback loop"/>
          <p:cNvSpPr/>
          <p:nvPr/>
        </p:nvSpPr>
        <p:spPr>
          <a:xfrm>
            <a:off x="496000" y="4550000"/>
            <a:ext cx="11200000" cy="9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txBody>
          <a:bodyPr wrap="square" lIns="182880" tIns="45720" rIns="18288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loop: </a:t>
            </a: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feedback and progress reports return to mentor allocation, so future matches and guidance keep improving.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3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5" name="FRONTEND header"/>
          <p:cNvSpPr/>
          <p:nvPr/>
        </p:nvSpPr>
        <p:spPr>
          <a:xfrm>
            <a:off x="496000" y="1450000"/>
            <a:ext cx="2575000" cy="6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6" name="FRONTEND body"/>
          <p:cNvSpPr/>
          <p:nvPr/>
        </p:nvSpPr>
        <p:spPr>
          <a:xfrm>
            <a:off x="496000" y="2050000"/>
            <a:ext cx="2575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CSS3 and Bootstrap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 for web and mobile</a:t>
            </a:r>
          </a:p>
        </p:txBody>
      </p:sp>
      <p:sp>
        <p:nvSpPr>
          <p:cNvPr id="7" name="BACKEND header"/>
          <p:cNvSpPr/>
          <p:nvPr/>
        </p:nvSpPr>
        <p:spPr>
          <a:xfrm>
            <a:off x="3371000" y="1450000"/>
            <a:ext cx="2575000" cy="6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8" name="BACKEND body"/>
          <p:cNvSpPr/>
          <p:nvPr/>
        </p:nvSpPr>
        <p:spPr>
          <a:xfrm>
            <a:off x="3371000" y="2050000"/>
            <a:ext cx="2575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</p:txBody>
      </p:sp>
      <p:sp>
        <p:nvSpPr>
          <p:cNvPr id="9" name="DATABASE header"/>
          <p:cNvSpPr/>
          <p:nvPr/>
        </p:nvSpPr>
        <p:spPr>
          <a:xfrm>
            <a:off x="6246000" y="1450000"/>
            <a:ext cx="2575000" cy="6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0" name="DATABASE body"/>
          <p:cNvSpPr/>
          <p:nvPr/>
        </p:nvSpPr>
        <p:spPr>
          <a:xfrm>
            <a:off x="6246000" y="2050000"/>
            <a:ext cx="2575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for users, sessions, and feedback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Hashed passwords</a:t>
            </a:r>
          </a:p>
        </p:txBody>
      </p:sp>
      <p:sp>
        <p:nvSpPr>
          <p:cNvPr id="11" name="TOOLS header"/>
          <p:cNvSpPr/>
          <p:nvPr/>
        </p:nvSpPr>
        <p:spPr>
          <a:xfrm>
            <a:off x="9121000" y="1450000"/>
            <a:ext cx="2575000" cy="6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12" name="TOOLS body"/>
          <p:cNvSpPr/>
          <p:nvPr/>
        </p:nvSpPr>
        <p:spPr>
          <a:xfrm>
            <a:off x="9121000" y="2050000"/>
            <a:ext cx="2575000" cy="2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 for email alerts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and GitHub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228600" indent="-228600" algn="l">
              <a:spcBef>
                <a:spcPts val="900"/>
              </a:spcBef>
              <a:buFont typeface="Arial"/>
              <a:buChar char="•"/>
            </a:pPr>
            <a:r>
              <a:rPr lang="en-IN" sz="18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Postman for API testing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496000" y="4950000"/>
            <a:ext cx="112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1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Accessible as a responsive web application on desktop and mobile browsers.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3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5" name="STUDENT header"/>
          <p:cNvSpPr/>
          <p:nvPr/>
        </p:nvSpPr>
        <p:spPr>
          <a:xfrm>
            <a:off x="996000" y="1300000"/>
            <a:ext cx="3000000" cy="4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lang="en-IN"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6" name="STUDENT body"/>
          <p:cNvSpPr/>
          <p:nvPr/>
        </p:nvSpPr>
        <p:spPr>
          <a:xfrm>
            <a:off x="996000" y="1700000"/>
            <a:ext cx="3000000" cy="1250000"/>
          </a:xfrm>
          <a:prstGeom prst="rect">
            <a:avLst/>
          </a:prstGeom>
          <a:solidFill>
            <a:srgbClr val="EAF0F9"/>
          </a:solidFill>
          <a:ln w="12700">
            <a:solidFill>
              <a:srgbClr val="2F5597"/>
            </a:solidFill>
          </a:ln>
        </p:spPr>
        <p:txBody>
          <a:bodyPr wrap="square" lIns="137160" tIns="45720" rIns="91440" bIns="45720" anchor="ctr"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 (PK)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 department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skills, career_goals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email, password_hash</a:t>
            </a:r>
          </a:p>
        </p:txBody>
      </p:sp>
      <p:sp>
        <p:nvSpPr>
          <p:cNvPr id="7" name="ALLOCATION header"/>
          <p:cNvSpPr/>
          <p:nvPr/>
        </p:nvSpPr>
        <p:spPr>
          <a:xfrm>
            <a:off x="4596000" y="1300000"/>
            <a:ext cx="3000000" cy="4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lang="en-IN"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</a:t>
            </a:r>
          </a:p>
        </p:txBody>
      </p:sp>
      <p:sp>
        <p:nvSpPr>
          <p:cNvPr id="8" name="ALLOCATION body"/>
          <p:cNvSpPr/>
          <p:nvPr/>
        </p:nvSpPr>
        <p:spPr>
          <a:xfrm>
            <a:off x="4596000" y="1700000"/>
            <a:ext cx="3000000" cy="1250000"/>
          </a:xfrm>
          <a:prstGeom prst="rect">
            <a:avLst/>
          </a:prstGeom>
          <a:solidFill>
            <a:srgbClr val="EAF0F9"/>
          </a:solidFill>
          <a:ln w="12700">
            <a:solidFill>
              <a:srgbClr val="2F5597"/>
            </a:solidFill>
          </a:ln>
        </p:spPr>
        <p:txBody>
          <a:bodyPr wrap="square" lIns="137160" tIns="45720" rIns="91440" bIns="45720" anchor="ctr"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 (PK)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 (FK)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mentor_id (FK)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9" name="MENTOR header"/>
          <p:cNvSpPr/>
          <p:nvPr/>
        </p:nvSpPr>
        <p:spPr>
          <a:xfrm>
            <a:off x="8196000" y="1300000"/>
            <a:ext cx="3000000" cy="4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lang="en-IN"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</p:txBody>
      </p:sp>
      <p:sp>
        <p:nvSpPr>
          <p:cNvPr id="10" name="MENTOR body"/>
          <p:cNvSpPr/>
          <p:nvPr/>
        </p:nvSpPr>
        <p:spPr>
          <a:xfrm>
            <a:off x="8196000" y="1700000"/>
            <a:ext cx="3000000" cy="1250000"/>
          </a:xfrm>
          <a:prstGeom prst="rect">
            <a:avLst/>
          </a:prstGeom>
          <a:solidFill>
            <a:srgbClr val="EAF0F9"/>
          </a:solidFill>
          <a:ln w="12700">
            <a:solidFill>
              <a:srgbClr val="2F5597"/>
            </a:solidFill>
          </a:ln>
        </p:spPr>
        <p:txBody>
          <a:bodyPr wrap="square" lIns="137160" tIns="45720" rIns="91440" bIns="45720" anchor="ctr"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mentor_id (PK)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 department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expertise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availability_slots</a:t>
            </a:r>
          </a:p>
        </p:txBody>
      </p:sp>
      <p:sp>
        <p:nvSpPr>
          <p:cNvPr id="11" name="PROGRESS header"/>
          <p:cNvSpPr/>
          <p:nvPr/>
        </p:nvSpPr>
        <p:spPr>
          <a:xfrm>
            <a:off x="996000" y="3850000"/>
            <a:ext cx="3000000" cy="4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lang="en-IN"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</a:p>
        </p:txBody>
      </p:sp>
      <p:sp>
        <p:nvSpPr>
          <p:cNvPr id="12" name="PROGRESS body"/>
          <p:cNvSpPr/>
          <p:nvPr/>
        </p:nvSpPr>
        <p:spPr>
          <a:xfrm>
            <a:off x="996000" y="4250000"/>
            <a:ext cx="3000000" cy="1250000"/>
          </a:xfrm>
          <a:prstGeom prst="rect">
            <a:avLst/>
          </a:prstGeom>
          <a:solidFill>
            <a:srgbClr val="EAF0F9"/>
          </a:solidFill>
          <a:ln w="12700">
            <a:solidFill>
              <a:srgbClr val="2F5597"/>
            </a:solidFill>
          </a:ln>
        </p:spPr>
        <p:txBody>
          <a:bodyPr wrap="square" lIns="137160" tIns="45720" rIns="91440" bIns="45720" anchor="ctr"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progress_id (PK)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 (FK)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</a:p>
        </p:txBody>
      </p:sp>
      <p:sp>
        <p:nvSpPr>
          <p:cNvPr id="13" name="SESSION header"/>
          <p:cNvSpPr/>
          <p:nvPr/>
        </p:nvSpPr>
        <p:spPr>
          <a:xfrm>
            <a:off x="4596000" y="3850000"/>
            <a:ext cx="3000000" cy="4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lang="en-IN"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</a:p>
        </p:txBody>
      </p:sp>
      <p:sp>
        <p:nvSpPr>
          <p:cNvPr id="14" name="SESSION body"/>
          <p:cNvSpPr/>
          <p:nvPr/>
        </p:nvSpPr>
        <p:spPr>
          <a:xfrm>
            <a:off x="4596000" y="4250000"/>
            <a:ext cx="3000000" cy="1250000"/>
          </a:xfrm>
          <a:prstGeom prst="rect">
            <a:avLst/>
          </a:prstGeom>
          <a:solidFill>
            <a:srgbClr val="EAF0F9"/>
          </a:solidFill>
          <a:ln w="12700">
            <a:solidFill>
              <a:srgbClr val="2F5597"/>
            </a:solidFill>
          </a:ln>
        </p:spPr>
        <p:txBody>
          <a:bodyPr wrap="square" lIns="137160" tIns="45720" rIns="91440" bIns="45720" anchor="ctr"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session_id (PK)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allocation_id (FK)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date_time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</a:p>
        </p:txBody>
      </p:sp>
      <p:sp>
        <p:nvSpPr>
          <p:cNvPr id="15" name="FEEDBACK header"/>
          <p:cNvSpPr/>
          <p:nvPr/>
        </p:nvSpPr>
        <p:spPr>
          <a:xfrm>
            <a:off x="8196000" y="3850000"/>
            <a:ext cx="3000000" cy="4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0" rIns="45720" bIns="0" anchor="ctr">
            <a:noAutofit/>
          </a:bodyPr>
          <a:lstStyle/>
          <a:p>
            <a:pPr algn="ctr">
              <a:buNone/>
            </a:pPr>
            <a:r>
              <a:rPr lang="en-IN" sz="16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</a:p>
        </p:txBody>
      </p:sp>
      <p:sp>
        <p:nvSpPr>
          <p:cNvPr id="16" name="FEEDBACK body"/>
          <p:cNvSpPr/>
          <p:nvPr/>
        </p:nvSpPr>
        <p:spPr>
          <a:xfrm>
            <a:off x="8196000" y="4250000"/>
            <a:ext cx="3000000" cy="1250000"/>
          </a:xfrm>
          <a:prstGeom prst="rect">
            <a:avLst/>
          </a:prstGeom>
          <a:solidFill>
            <a:srgbClr val="EAF0F9"/>
          </a:solidFill>
          <a:ln w="12700">
            <a:solidFill>
              <a:srgbClr val="2F5597"/>
            </a:solidFill>
          </a:ln>
        </p:spPr>
        <p:txBody>
          <a:bodyPr wrap="square" lIns="137160" tIns="45720" rIns="91440" bIns="45720" anchor="ctr">
            <a:noAutofit/>
          </a:bodyPr>
          <a:lstStyle/>
          <a:p>
            <a:pPr algn="l"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feedback_id (PK)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session_id (FK)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</a:p>
          <a:p>
            <a:pPr algn="l">
              <a:spcBef>
                <a:spcPts val="2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</a:p>
        </p:txBody>
      </p:sp>
      <p:cxnSp>
        <p:nvCxnSpPr>
          <p:cNvPr id="17" name="Relationship"/>
          <p:cNvCxnSpPr/>
          <p:nvPr/>
        </p:nvCxnSpPr>
        <p:spPr>
          <a:xfrm>
            <a:off x="3996000" y="2325000"/>
            <a:ext cx="600000" cy="0"/>
          </a:xfrm>
          <a:prstGeom prst="line">
            <a:avLst/>
          </a:prstGeom>
          <a:ln w="19050">
            <a:solidFill>
              <a:srgbClr val="2F5597"/>
            </a:solidFill>
          </a:ln>
        </p:spPr>
      </p:cxnSp>
      <p:sp>
        <p:nvSpPr>
          <p:cNvPr id="18" name="Cardinality"/>
          <p:cNvSpPr txBox="1"/>
          <p:nvPr/>
        </p:nvSpPr>
        <p:spPr>
          <a:xfrm>
            <a:off x="3996000" y="1995000"/>
            <a:ext cx="6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>
              <a:buNone/>
            </a:pPr>
            <a:r>
              <a:rPr lang="en-IN"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: N</a:t>
            </a:r>
          </a:p>
        </p:txBody>
      </p:sp>
      <p:cxnSp>
        <p:nvCxnSpPr>
          <p:cNvPr id="19" name="Relationship"/>
          <p:cNvCxnSpPr/>
          <p:nvPr/>
        </p:nvCxnSpPr>
        <p:spPr>
          <a:xfrm>
            <a:off x="7596000" y="2325000"/>
            <a:ext cx="600000" cy="0"/>
          </a:xfrm>
          <a:prstGeom prst="line">
            <a:avLst/>
          </a:prstGeom>
          <a:ln w="19050">
            <a:solidFill>
              <a:srgbClr val="2F5597"/>
            </a:solidFill>
          </a:ln>
        </p:spPr>
      </p:cxnSp>
      <p:sp>
        <p:nvSpPr>
          <p:cNvPr id="20" name="Cardinality"/>
          <p:cNvSpPr txBox="1"/>
          <p:nvPr/>
        </p:nvSpPr>
        <p:spPr>
          <a:xfrm>
            <a:off x="7596000" y="1995000"/>
            <a:ext cx="6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>
              <a:buNone/>
            </a:pPr>
            <a:r>
              <a:rPr lang="en-IN"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: 1</a:t>
            </a:r>
          </a:p>
        </p:txBody>
      </p:sp>
      <p:cxnSp>
        <p:nvCxnSpPr>
          <p:cNvPr id="21" name="Relationship"/>
          <p:cNvCxnSpPr/>
          <p:nvPr/>
        </p:nvCxnSpPr>
        <p:spPr>
          <a:xfrm>
            <a:off x="7596000" y="4875000"/>
            <a:ext cx="600000" cy="0"/>
          </a:xfrm>
          <a:prstGeom prst="line">
            <a:avLst/>
          </a:prstGeom>
          <a:ln w="19050">
            <a:solidFill>
              <a:srgbClr val="2F5597"/>
            </a:solidFill>
          </a:ln>
        </p:spPr>
      </p:cxnSp>
      <p:sp>
        <p:nvSpPr>
          <p:cNvPr id="22" name="Cardinality"/>
          <p:cNvSpPr txBox="1"/>
          <p:nvPr/>
        </p:nvSpPr>
        <p:spPr>
          <a:xfrm>
            <a:off x="7596000" y="4545000"/>
            <a:ext cx="6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ctr">
              <a:buNone/>
            </a:pPr>
            <a:r>
              <a:rPr lang="en-IN"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: N</a:t>
            </a:r>
          </a:p>
        </p:txBody>
      </p:sp>
      <p:cxnSp>
        <p:nvCxnSpPr>
          <p:cNvPr id="23" name="Relationship"/>
          <p:cNvCxnSpPr/>
          <p:nvPr/>
        </p:nvCxnSpPr>
        <p:spPr>
          <a:xfrm>
            <a:off x="2496000" y="2950000"/>
            <a:ext cx="0" cy="900000"/>
          </a:xfrm>
          <a:prstGeom prst="line">
            <a:avLst/>
          </a:prstGeom>
          <a:ln w="19050">
            <a:solidFill>
              <a:srgbClr val="2F5597"/>
            </a:solidFill>
          </a:ln>
        </p:spPr>
      </p:cxnSp>
      <p:sp>
        <p:nvSpPr>
          <p:cNvPr id="24" name="Cardinality"/>
          <p:cNvSpPr txBox="1"/>
          <p:nvPr/>
        </p:nvSpPr>
        <p:spPr>
          <a:xfrm>
            <a:off x="2576000" y="3260000"/>
            <a:ext cx="7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IN"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: N</a:t>
            </a:r>
          </a:p>
        </p:txBody>
      </p:sp>
      <p:cxnSp>
        <p:nvCxnSpPr>
          <p:cNvPr id="25" name="Relationship"/>
          <p:cNvCxnSpPr/>
          <p:nvPr/>
        </p:nvCxnSpPr>
        <p:spPr>
          <a:xfrm>
            <a:off x="6096000" y="2950000"/>
            <a:ext cx="0" cy="900000"/>
          </a:xfrm>
          <a:prstGeom prst="line">
            <a:avLst/>
          </a:prstGeom>
          <a:ln w="19050">
            <a:solidFill>
              <a:srgbClr val="2F5597"/>
            </a:solidFill>
          </a:ln>
        </p:spPr>
      </p:cxnSp>
      <p:sp>
        <p:nvSpPr>
          <p:cNvPr id="26" name="Cardinality"/>
          <p:cNvSpPr txBox="1"/>
          <p:nvPr/>
        </p:nvSpPr>
        <p:spPr>
          <a:xfrm>
            <a:off x="6176000" y="3260000"/>
            <a:ext cx="7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IN"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: N</a:t>
            </a:r>
          </a:p>
        </p:txBody>
      </p:sp>
      <p:sp>
        <p:nvSpPr>
          <p:cNvPr id="27" name="Key"/>
          <p:cNvSpPr txBox="1"/>
          <p:nvPr/>
        </p:nvSpPr>
        <p:spPr>
          <a:xfrm>
            <a:off x="996000" y="5800000"/>
            <a:ext cx="102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1400" b="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PK = primary key, FK = foreign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91411" y="900000"/>
            <a:ext cx="11209178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and Academic Progress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11" y="1750000"/>
            <a:ext cx="11209178" cy="44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and maintain details such as department, skills, interests, and career goals.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Records: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Marks, attendance, and semester-wise performance are stored together in one central place.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Dashboard: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trends and milestone completion are shown through simple charts and summaries.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data is visible only to the student, the assigned mentor, and the administrator.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91411" y="900000"/>
            <a:ext cx="11209178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Allocation and Communication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11" y="1750000"/>
            <a:ext cx="11209178" cy="44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Mentor Matching: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are allocated by matching student skills, interests, and goals with mentor expertise.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publish availability slots; students book and reschedule sessions without clashes.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and notifications handle queries, meeting requests, and session reminders.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Management: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review, reassign, and balance mentor workload.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91411" y="900000"/>
            <a:ext cx="11209178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Guidance, Feedback and Progress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11" y="1750000"/>
            <a:ext cx="11209178" cy="44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share personalized academic advice, career guidance, and learning recommendations.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Collection: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mentors submit feedback after each session to improve mentorship quality.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Monitoring: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completion is tracked so students who need extra support are identified early.</a:t>
            </a:r>
          </a:p>
          <a:p>
            <a:pPr marL="342900" indent="-342900">
              <a:spcBef>
                <a:spcPts val="1400"/>
              </a:spcBef>
              <a:buFont typeface="Wingdings" panose="05000000000000000000" pitchFamily="2" charset="2"/>
              <a:buChar char="q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Reports: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summarize improvement for students, mentors, and the institution.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3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</a:p>
        </p:txBody>
      </p:sp>
      <p:sp>
        <p:nvSpPr>
          <p:cNvPr id="5" name="Screenshot frame 1"/>
          <p:cNvSpPr/>
          <p:nvPr/>
        </p:nvSpPr>
        <p:spPr>
          <a:xfrm>
            <a:off x="496000" y="1400000"/>
            <a:ext cx="35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497B0"/>
            </a:solidFill>
            <a:prstDash val="dash"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IN" sz="1600" b="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 here</a:t>
            </a:r>
          </a:p>
        </p:txBody>
      </p:sp>
      <p:sp>
        <p:nvSpPr>
          <p:cNvPr id="6" name="Caption 1"/>
          <p:cNvSpPr txBox="1"/>
          <p:nvPr/>
        </p:nvSpPr>
        <p:spPr>
          <a:xfrm>
            <a:off x="496000" y="5050000"/>
            <a:ext cx="3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Profile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details, academic records, and progress dashboard</a:t>
            </a:r>
          </a:p>
        </p:txBody>
      </p:sp>
      <p:sp>
        <p:nvSpPr>
          <p:cNvPr id="7" name="Screenshot frame 2"/>
          <p:cNvSpPr/>
          <p:nvPr/>
        </p:nvSpPr>
        <p:spPr>
          <a:xfrm>
            <a:off x="4346000" y="1400000"/>
            <a:ext cx="35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497B0"/>
            </a:solidFill>
            <a:prstDash val="dash"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IN" sz="1600" b="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 here</a:t>
            </a:r>
          </a:p>
        </p:txBody>
      </p:sp>
      <p:sp>
        <p:nvSpPr>
          <p:cNvPr id="8" name="Caption 2"/>
          <p:cNvSpPr txBox="1"/>
          <p:nvPr/>
        </p:nvSpPr>
        <p:spPr>
          <a:xfrm>
            <a:off x="4346000" y="5050000"/>
            <a:ext cx="3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Mentor Allocation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matching, availability, and session booking</a:t>
            </a:r>
          </a:p>
        </p:txBody>
      </p:sp>
      <p:sp>
        <p:nvSpPr>
          <p:cNvPr id="9" name="Screenshot frame 3"/>
          <p:cNvSpPr/>
          <p:nvPr/>
        </p:nvSpPr>
        <p:spPr>
          <a:xfrm>
            <a:off x="8196000" y="1400000"/>
            <a:ext cx="35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497B0"/>
            </a:solidFill>
            <a:prstDash val="dash"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buNone/>
            </a:pPr>
            <a:r>
              <a:rPr lang="en-IN" sz="1600" b="0" i="1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 here</a:t>
            </a:r>
          </a:p>
        </p:txBody>
      </p:sp>
      <p:sp>
        <p:nvSpPr>
          <p:cNvPr id="10" name="Caption 3"/>
          <p:cNvSpPr txBox="1"/>
          <p:nvPr/>
        </p:nvSpPr>
        <p:spPr>
          <a:xfrm>
            <a:off x="8196000" y="5050000"/>
            <a:ext cx="35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IN" sz="16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Feedback and Reports</a:t>
            </a:r>
          </a:p>
          <a:p>
            <a:pPr algn="l">
              <a:spcBef>
                <a:spcPts val="300"/>
              </a:spcBef>
              <a:buNone/>
            </a:pPr>
            <a:r>
              <a:rPr lang="en-IN" sz="14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form, progress monitoring, and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491411" y="330000"/>
            <a:ext cx="11209178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IN" sz="3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</p:txBody>
      </p:sp>
      <p:sp>
        <p:nvSpPr>
          <p:cNvPr id="5" name="ZEROTH REVIEW header"/>
          <p:cNvSpPr/>
          <p:nvPr/>
        </p:nvSpPr>
        <p:spPr>
          <a:xfrm>
            <a:off x="496000" y="1450000"/>
            <a:ext cx="2575000" cy="800000"/>
          </a:xfrm>
          <a:prstGeom prst="rect">
            <a:avLst/>
          </a:prstGeom>
          <a:solidFill>
            <a:srgbClr val="5B6B80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</a:p>
          <a:p>
            <a:pPr algn="ctr">
              <a:buNone/>
            </a:pPr>
            <a:r>
              <a:rPr lang="en-IN" sz="1400" b="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</a:p>
        </p:txBody>
      </p:sp>
      <p:sp>
        <p:nvSpPr>
          <p:cNvPr id="6" name="ZEROTH REVIEW body"/>
          <p:cNvSpPr/>
          <p:nvPr/>
        </p:nvSpPr>
        <p:spPr>
          <a:xfrm>
            <a:off x="496000" y="2250000"/>
            <a:ext cx="2575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modules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7" name="FIRST REVIEW header"/>
          <p:cNvSpPr/>
          <p:nvPr/>
        </p:nvSpPr>
        <p:spPr>
          <a:xfrm>
            <a:off x="3371000" y="1450000"/>
            <a:ext cx="2575000" cy="8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REVIEW</a:t>
            </a:r>
          </a:p>
          <a:p>
            <a:pPr algn="ctr">
              <a:buNone/>
            </a:pPr>
            <a:r>
              <a:rPr lang="en-IN" sz="1400" b="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progress</a:t>
            </a:r>
          </a:p>
        </p:txBody>
      </p:sp>
      <p:sp>
        <p:nvSpPr>
          <p:cNvPr id="8" name="FIRST REVIEW body"/>
          <p:cNvSpPr/>
          <p:nvPr/>
        </p:nvSpPr>
        <p:spPr>
          <a:xfrm>
            <a:off x="3371000" y="2250000"/>
            <a:ext cx="2575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all three modules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and database design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finalized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implementation</a:t>
            </a:r>
          </a:p>
        </p:txBody>
      </p:sp>
      <p:sp>
        <p:nvSpPr>
          <p:cNvPr id="9" name="SECOND REVIEW header"/>
          <p:cNvSpPr/>
          <p:nvPr/>
        </p:nvSpPr>
        <p:spPr>
          <a:xfrm>
            <a:off x="6246000" y="1450000"/>
            <a:ext cx="2575000" cy="8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REVIEW</a:t>
            </a:r>
          </a:p>
          <a:p>
            <a:pPr algn="ctr">
              <a:buNone/>
            </a:pPr>
            <a:r>
              <a:rPr lang="en-IN" sz="1400" b="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</a:t>
            </a:r>
          </a:p>
        </p:txBody>
      </p:sp>
      <p:sp>
        <p:nvSpPr>
          <p:cNvPr id="10" name="SECOND REVIEW body"/>
          <p:cNvSpPr/>
          <p:nvPr/>
        </p:nvSpPr>
        <p:spPr>
          <a:xfrm>
            <a:off x="6246000" y="2250000"/>
            <a:ext cx="2575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module development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the three modules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and bug fixing</a:t>
            </a:r>
          </a:p>
        </p:txBody>
      </p:sp>
      <p:sp>
        <p:nvSpPr>
          <p:cNvPr id="11" name="FINAL REVIEW header"/>
          <p:cNvSpPr/>
          <p:nvPr/>
        </p:nvSpPr>
        <p:spPr>
          <a:xfrm>
            <a:off x="9121000" y="1450000"/>
            <a:ext cx="2575000" cy="800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buNone/>
            </a:pPr>
            <a:r>
              <a:rPr lang="en-IN" sz="18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REVIEW</a:t>
            </a:r>
          </a:p>
          <a:p>
            <a:pPr algn="ctr">
              <a:buNone/>
            </a:pPr>
            <a:r>
              <a:rPr lang="en-IN" sz="1400" b="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</a:t>
            </a:r>
          </a:p>
        </p:txBody>
      </p:sp>
      <p:sp>
        <p:nvSpPr>
          <p:cNvPr id="12" name="FINAL REVIEW body"/>
          <p:cNvSpPr/>
          <p:nvPr/>
        </p:nvSpPr>
        <p:spPr>
          <a:xfrm>
            <a:off x="9121000" y="2250000"/>
            <a:ext cx="2575000" cy="2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2D3"/>
            </a:solidFill>
          </a:ln>
        </p:spPr>
        <p:txBody>
          <a:bodyPr wrap="square" lIns="137160" tIns="182880" rIns="91440" bIns="45720" anchor="t">
            <a:noAutofit/>
          </a:bodyPr>
          <a:lstStyle/>
          <a:p>
            <a:pPr marL="228600" indent="-228600" algn="l"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</a:p>
          <a:p>
            <a:pPr marL="228600" indent="-228600" algn="l">
              <a:spcBef>
                <a:spcPts val="1000"/>
              </a:spcBef>
              <a:buFont typeface="Arial"/>
              <a:buChar char="•"/>
            </a:pPr>
            <a:r>
              <a:rPr lang="en-IN" sz="16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and demonstration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2F942-03C0-D066-12CF-0AE53077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4DD6C6C-F50F-64CA-900D-5F9891926436}"/>
              </a:ext>
            </a:extLst>
          </p:cNvPr>
          <p:cNvSpPr txBox="1"/>
          <p:nvPr/>
        </p:nvSpPr>
        <p:spPr>
          <a:xfrm>
            <a:off x="3219061" y="448980"/>
            <a:ext cx="501502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434C93-1734-C161-D5F9-FD3B877F2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436045"/>
              </p:ext>
            </p:extLst>
          </p:nvPr>
        </p:nvGraphicFramePr>
        <p:xfrm>
          <a:off x="783771" y="1612382"/>
          <a:ext cx="9237305" cy="390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6997">
                  <a:extLst>
                    <a:ext uri="{9D8B030D-6E8A-4147-A177-3AD203B41FA5}">
                      <a16:colId xmlns:a16="http://schemas.microsoft.com/office/drawing/2014/main" val="1725855325"/>
                    </a:ext>
                  </a:extLst>
                </a:gridCol>
                <a:gridCol w="3396344">
                  <a:extLst>
                    <a:ext uri="{9D8B030D-6E8A-4147-A177-3AD203B41FA5}">
                      <a16:colId xmlns:a16="http://schemas.microsoft.com/office/drawing/2014/main" val="1496963072"/>
                    </a:ext>
                  </a:extLst>
                </a:gridCol>
                <a:gridCol w="864637">
                  <a:extLst>
                    <a:ext uri="{9D8B030D-6E8A-4147-A177-3AD203B41FA5}">
                      <a16:colId xmlns:a16="http://schemas.microsoft.com/office/drawing/2014/main" val="1112196162"/>
                    </a:ext>
                  </a:extLst>
                </a:gridCol>
                <a:gridCol w="3819327">
                  <a:extLst>
                    <a:ext uri="{9D8B030D-6E8A-4147-A177-3AD203B41FA5}">
                      <a16:colId xmlns:a16="http://schemas.microsoft.com/office/drawing/2014/main" val="2399875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14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Guided Student Profile System: Mentor Feedback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personalized guidance and progress tracking.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364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Mentorship-Driven Decision Support Platform for Career Planning in Undergraduate Engineering 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career planning.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79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Gap: Developing an Alumni Association Platform to Enhance Student Guidance and Institutional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continuous academic mentoring.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19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Career Development: An AI-Driven Mentorship Platform for Student-Mentor Connections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AI-based mentor connections.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398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663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2BD6F8-794D-AE0E-E169-E196395E0A29}"/>
              </a:ext>
            </a:extLst>
          </p:cNvPr>
          <p:cNvSpPr txBox="1"/>
          <p:nvPr/>
        </p:nvSpPr>
        <p:spPr>
          <a:xfrm>
            <a:off x="286138" y="1605094"/>
            <a:ext cx="1148287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Sadasivam, V. R., Sanjaykumar, V., Imam, A. S., &amp; Vasanthan, R. (2024). Guided Student Profile System: Mentor Feedback Integration. 2024 International Conference on Intelligent Systems for Cybersecurity (ISCS), IEEE, 1–5.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Dhumal, A. D. (2026). A Mentorship-Driven Decision Support Platform for Career Planning in Undergraduate Engineering Education.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Jaiswal, A., Solanki, P., Rathore, R., Pillai, S., Jain, S.,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Berchha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&amp; Toke, V. (2025). Bridging the Gap: Developing an Alumni Association Platform to Enhance Student Guidance and Institutional Connectivity. International Journal of Knowledge Based Computer Systems, 13(1), 38.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Charanya, P., Nidhish, M., Prajesh, U. R.,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Saktheeswar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Sanjana, S. P. (2025). Enhancing Career Development: An AI-Driven Mentorship Platform for Student-Mentor Connections. 2025 International Conference on Computational, Communication and Information Technology (ICCCIT), IEEE, 147–152.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926EE-B41B-02B0-4BF1-1923F4778B6E}"/>
              </a:ext>
            </a:extLst>
          </p:cNvPr>
          <p:cNvSpPr txBox="1"/>
          <p:nvPr/>
        </p:nvSpPr>
        <p:spPr>
          <a:xfrm>
            <a:off x="4441371" y="522514"/>
            <a:ext cx="2717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71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95729-3F1E-B90E-5DF2-872C2F8FF69A}"/>
              </a:ext>
            </a:extLst>
          </p:cNvPr>
          <p:cNvSpPr txBox="1"/>
          <p:nvPr/>
        </p:nvSpPr>
        <p:spPr>
          <a:xfrm>
            <a:off x="8086530" y="5697893"/>
            <a:ext cx="3155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76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1167</Words>
  <Application>Microsoft Office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Chakram Pothala</dc:creator>
  <cp:keywords/>
  <dc:description>generated using python-pptx</dc:description>
  <cp:lastModifiedBy>Chakram Pothala</cp:lastModifiedBy>
  <cp:revision>12</cp:revision>
  <dcterms:created xsi:type="dcterms:W3CDTF">2013-01-27T09:14:16Z</dcterms:created>
  <dcterms:modified xsi:type="dcterms:W3CDTF">2026-10-26T03:37:52Z</dcterms:modified>
  <cp:category/>
</cp:coreProperties>
</file>