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sldIdLst>
    <p:sldId id="269" r:id="rId2"/>
    <p:sldId id="270" r:id="rId3"/>
    <p:sldId id="257" r:id="rId4"/>
    <p:sldId id="258" r:id="rId5"/>
    <p:sldId id="271" r:id="rId6"/>
    <p:sldId id="273" r:id="rId7"/>
    <p:sldId id="268" r:id="rId8"/>
    <p:sldId id="272" r:id="rId9"/>
    <p:sldId id="27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243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877F6-EE42-C9EF-0A6A-8E3AB6AF4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ADC111-2174-D85E-8557-115523E06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3D213-4CF3-DFAB-2C08-8F2947B6D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75F92-B42D-BF20-7B57-F36D829D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157AF-8576-7292-8301-2EB31E70A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91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17F1A-9D5B-541B-CDCA-3336451EF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4C725-AB33-E893-C9CD-FF7677B17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093AD-4746-E4B7-2D53-3E3E015CC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5111C-EE85-55EE-8A06-32A08A28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21516-2AF7-E7B6-9A30-DF4089F76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59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D8087-33F4-8974-0AAB-9AE738E68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71EAD7-2A8C-C0FD-3B5C-0B2C895BC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3A3F7-FD08-ECD4-FF6A-B3E973463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80BCC-4A01-949B-AE9B-54431D1A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585A2-AB66-58CA-B15A-E985CA8F0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8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34CB-3344-5B91-EBD4-03245D1B5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7B198-3990-D48E-0AB0-A1FE49B26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6C0EB-4CED-8379-C252-F8DC8B26E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E6BD5-8EA9-6E0C-8311-E175C5EA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F94D3-4BDE-BF4C-334C-4DF2B76C7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DDE96-B26F-880B-D216-120B3FAE8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651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1E0BE-DFF3-9866-AD7D-ACE82184F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40AA7-3F85-8BA7-43AE-112703910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5548E3-9A19-19C4-D644-049ABE2AA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F0BE6-56C2-B711-3DFB-45122D8824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7E4713-90DB-7391-BEE6-59C968A854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A1FA6E-9C81-96D8-2E54-7FAA6C5DA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96A929-2D57-44CC-057E-8B98E7756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B2CDFF-8560-F321-434A-075EA215B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775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ACA68-9CB5-B3FB-FCEC-A72B8D643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9184D-33F7-7CB7-9869-F1379201D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CB0FF-1591-37F7-A9EB-FBCAD58B0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AB107E-C11C-39D7-BA7E-E66396F6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223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91A030-746B-838D-083F-E868B6C1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F5D4B3-A3BA-8B71-E936-68F7CCC21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C8EC0-1964-4547-58AF-498C6E8A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58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3E77B-A5BE-3F21-91F2-B322C7C75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4F668-95D6-D4E5-41F3-5A4E1B3B4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E2B6DA-3D5E-6454-566A-1FBB3ABA7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289B9-C146-9E62-2815-1F9DF0015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11410-9F15-2D1C-3736-C292D8BE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BFE9E-A65E-2E41-4D27-13D90C49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68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7489A-8459-C4E6-F429-D6A4DFE97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5820B3-1BEA-93EE-D457-B068F33BC66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B22CF-06B0-9BBE-917A-147E7A85C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52A11-929C-C20F-4AAF-2709FE2AE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568D-1BBC-602A-617E-B1192EE2D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90C9B-7005-4EDF-FDE5-659469E47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5366A-205B-A134-563B-66B24A87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5D99DA-D8F4-C293-F8B5-E1F646430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20C7F-6608-3867-B9FB-9A0474329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4C6CC-3B1A-8073-CAF1-9856A7D4C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A3AD5-F6A8-9A92-2175-4507DE2AC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54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D360D4-0F7B-EC58-3C41-90EC2F7437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B05C57-1447-07A7-03A4-98A552A6C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24BF2-8F82-84C6-C163-87D823618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FB0B5-7B9F-222C-F454-F8FBCAF5F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E68CE-9471-5F0B-43BB-D472A3F0A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20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B1252B-EB34-D076-64BF-19401AD46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18BD8-91CA-94D4-7423-F87AD3E1D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4277F-F607-DBE1-9AC7-541A2F300B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EA249-4618-A5B8-409E-971EC59BE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7F0FB-6421-3AB9-087F-1A94F0000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9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C237E6-ED71-E42C-BD78-0972A3F870F8}"/>
              </a:ext>
            </a:extLst>
          </p:cNvPr>
          <p:cNvSpPr txBox="1"/>
          <p:nvPr/>
        </p:nvSpPr>
        <p:spPr>
          <a:xfrm>
            <a:off x="709125" y="1291517"/>
            <a:ext cx="96229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Mentorship and Guidance Management Portal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33A144-8FF5-9618-4CBA-6918924D7806}"/>
              </a:ext>
            </a:extLst>
          </p:cNvPr>
          <p:cNvSpPr txBox="1"/>
          <p:nvPr/>
        </p:nvSpPr>
        <p:spPr>
          <a:xfrm>
            <a:off x="7383624" y="5257513"/>
            <a:ext cx="45844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latin typeface="Times New Roman"/>
              </a:rPr>
              <a:t>Dheeraj Krushna P(192525230)</a:t>
            </a:r>
            <a:r>
              <a:rPr lang="en-US" dirty="0">
                <a:latin typeface="Times New Roman"/>
              </a:rPr>
              <a:t> CSE(AIML)</a:t>
            </a:r>
            <a:endParaRPr lang="en-US" sz="1800" dirty="0">
              <a:latin typeface="Times New Roman"/>
            </a:endParaRPr>
          </a:p>
          <a:p>
            <a:r>
              <a:rPr lang="en-US" dirty="0">
                <a:latin typeface="Times New Roman"/>
              </a:rPr>
              <a:t>Srikanth(192411139) CSE</a:t>
            </a:r>
          </a:p>
          <a:p>
            <a:r>
              <a:rPr lang="en-US" dirty="0">
                <a:latin typeface="Times New Roman"/>
              </a:rPr>
              <a:t>P. Hemanth Reddy(192311086) CSE(cs)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9806C2-B26A-BA40-3FE3-4B9524E436A4}"/>
              </a:ext>
            </a:extLst>
          </p:cNvPr>
          <p:cNvSpPr txBox="1"/>
          <p:nvPr/>
        </p:nvSpPr>
        <p:spPr>
          <a:xfrm>
            <a:off x="709125" y="5317285"/>
            <a:ext cx="23513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/>
              </a:rPr>
              <a:t>PROJECT GUIDE</a:t>
            </a:r>
            <a:endParaRPr lang="en-IN" sz="1800" b="0" i="0" u="none" dirty="0">
              <a:latin typeface="Times New Roman"/>
            </a:endParaRPr>
          </a:p>
          <a:p>
            <a:pPr algn="l"/>
            <a:r>
              <a:rPr lang="en-IN" sz="1800" b="0" i="0" u="none" dirty="0">
                <a:latin typeface="Times New Roman"/>
              </a:rPr>
              <a:t>Dr. </a:t>
            </a:r>
            <a:r>
              <a:rPr lang="en-IN" sz="1800" dirty="0" err="1">
                <a:latin typeface="Times New Roman"/>
              </a:rPr>
              <a:t>Kosalairaman</a:t>
            </a:r>
            <a:endParaRPr lang="en-IN" sz="1800" b="0" i="0" u="none" dirty="0">
              <a:latin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B6889C-1117-B03F-4FF0-DD2C0EC52915}"/>
              </a:ext>
            </a:extLst>
          </p:cNvPr>
          <p:cNvSpPr txBox="1"/>
          <p:nvPr/>
        </p:nvSpPr>
        <p:spPr>
          <a:xfrm>
            <a:off x="709125" y="2992342"/>
            <a:ext cx="6096000" cy="736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2400" b="0" i="0" u="none" dirty="0">
                <a:solidFill>
                  <a:srgbClr val="1C1C1C"/>
                </a:solidFill>
                <a:latin typeface="Times New Roman"/>
              </a:rPr>
              <a:t>CSA 4302 Internet Programming</a:t>
            </a:r>
            <a:endParaRPr lang="en-US" sz="2400" b="0" i="1" u="none" dirty="0">
              <a:solidFill>
                <a:srgbClr val="B38754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76719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850538-209D-C78C-3143-6A40A7199BDC}"/>
              </a:ext>
            </a:extLst>
          </p:cNvPr>
          <p:cNvSpPr txBox="1"/>
          <p:nvPr/>
        </p:nvSpPr>
        <p:spPr>
          <a:xfrm>
            <a:off x="659362" y="2084829"/>
            <a:ext cx="10686661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Mentorship and Guidance Management Portal is a centralized platform designed to connect students with mentors.</a:t>
            </a:r>
          </a:p>
          <a:p>
            <a:pPr marL="342900" lvl="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students receive academic support, career guidance, and personalized learning recommendations.</a:t>
            </a:r>
          </a:p>
          <a:p>
            <a:pPr marL="342900" lvl="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enables efficient mentor allocation, appointment scheduling, and communication between students and mentors.</a:t>
            </a:r>
          </a:p>
          <a:p>
            <a:pPr marL="342900" lvl="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tracks student progress, collects feedback, and improves the overall mentorship and learning experience.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9609EF-D442-AB22-5C81-E12B01C639D4}"/>
              </a:ext>
            </a:extLst>
          </p:cNvPr>
          <p:cNvSpPr txBox="1"/>
          <p:nvPr/>
        </p:nvSpPr>
        <p:spPr>
          <a:xfrm>
            <a:off x="4335624" y="618187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38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80792" y="486697"/>
            <a:ext cx="4696799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200" b="1" i="0" u="none" dirty="0">
                <a:latin typeface="Times New Roman"/>
              </a:rPr>
              <a:t>PROBLEM STATEMENT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369173-4841-A665-47A6-2AD5DAB583D7}"/>
              </a:ext>
            </a:extLst>
          </p:cNvPr>
          <p:cNvSpPr txBox="1"/>
          <p:nvPr/>
        </p:nvSpPr>
        <p:spPr>
          <a:xfrm>
            <a:off x="491411" y="1682153"/>
            <a:ext cx="111096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Student Information: Student academic records, performance details, and learning goals are maintained separately, making progress tracking difficult.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Mentor Allocation: Assigning suitable mentors to students and managing mentorship appointments can be time-consuming and unorganized.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Guidance and Communication: Students may face difficulties accessing timely academic support, career guidance, and effective communication with mentors.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Inadequate Progress Monitoring: The absence of systematic feedback collection and progress reports makes it difficult to identify student challenges and measure improvement.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8186" y="2505807"/>
            <a:ext cx="215526" cy="215526"/>
          </a:xfrm>
          <a:prstGeom prst="rect">
            <a:avLst/>
          </a:prstGeom>
          <a:noFill/>
          <a:ln w="19050">
            <a:solidFill>
              <a:srgbClr val="B38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778186" y="3435387"/>
            <a:ext cx="215526" cy="215526"/>
          </a:xfrm>
          <a:prstGeom prst="rect">
            <a:avLst/>
          </a:prstGeom>
          <a:noFill/>
          <a:ln w="19050">
            <a:solidFill>
              <a:srgbClr val="B38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778186" y="4364968"/>
            <a:ext cx="215526" cy="215526"/>
          </a:xfrm>
          <a:prstGeom prst="rect">
            <a:avLst/>
          </a:prstGeom>
          <a:noFill/>
          <a:ln w="19050">
            <a:solidFill>
              <a:srgbClr val="B387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07633" y="436793"/>
            <a:ext cx="2923877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 dirty="0">
                <a:latin typeface="Times New Roman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6950" y="2415480"/>
            <a:ext cx="7353597" cy="396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1" i="0" u="none" dirty="0">
                <a:solidFill>
                  <a:srgbClr val="1C1C1C"/>
                </a:solidFill>
                <a:latin typeface="Times New Roman"/>
              </a:rPr>
              <a:t>Smart Matching:</a:t>
            </a:r>
            <a:r>
              <a:rPr sz="2400" b="0" i="0" u="none" dirty="0">
                <a:solidFill>
                  <a:srgbClr val="1C1C1C"/>
                </a:solidFill>
                <a:latin typeface="Times New Roman"/>
              </a:rPr>
              <a:t> Pair by exact technical skills.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6950" y="3345060"/>
            <a:ext cx="8952755" cy="396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1" i="0" u="none" dirty="0">
                <a:solidFill>
                  <a:srgbClr val="1C1C1C"/>
                </a:solidFill>
                <a:latin typeface="Times New Roman"/>
              </a:rPr>
              <a:t>Unified Scheduling:</a:t>
            </a:r>
            <a:r>
              <a:rPr sz="2400" b="0" i="0" u="none" dirty="0">
                <a:solidFill>
                  <a:srgbClr val="1C1C1C"/>
                </a:solidFill>
                <a:latin typeface="Times New Roman"/>
              </a:rPr>
              <a:t> Automate faculty availability blocks.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6950" y="4274641"/>
            <a:ext cx="8923920" cy="396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2400" b="1" i="0" u="none">
                <a:solidFill>
                  <a:srgbClr val="1C1C1C"/>
                </a:solidFill>
                <a:latin typeface="Times New Roman"/>
              </a:rPr>
              <a:t>Progress Tracking:</a:t>
            </a:r>
            <a:r>
              <a:rPr sz="2400" b="0" i="0" u="none">
                <a:solidFill>
                  <a:srgbClr val="1C1C1C"/>
                </a:solidFill>
                <a:latin typeface="Times New Roman"/>
              </a:rPr>
              <a:t> Monitor active milestone completion.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6ACFF5-A368-C0E2-9140-F90B4E60602E}"/>
              </a:ext>
            </a:extLst>
          </p:cNvPr>
          <p:cNvSpPr txBox="1"/>
          <p:nvPr/>
        </p:nvSpPr>
        <p:spPr>
          <a:xfrm>
            <a:off x="684244" y="1830556"/>
            <a:ext cx="861526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Profile and Academic Progress Management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Allocation and Communication Management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Guidance, Feedback and Progress Monitoring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36AE7B-1007-8C4C-BF27-6AE19E7325F6}"/>
              </a:ext>
            </a:extLst>
          </p:cNvPr>
          <p:cNvSpPr txBox="1"/>
          <p:nvPr/>
        </p:nvSpPr>
        <p:spPr>
          <a:xfrm>
            <a:off x="4460033" y="242595"/>
            <a:ext cx="22605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432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038DC8-552C-5D5B-E867-E4BB573F9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69" y="1380929"/>
            <a:ext cx="9878009" cy="49327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7B6B49-4931-34DC-A2DA-959C62BF34DA}"/>
              </a:ext>
            </a:extLst>
          </p:cNvPr>
          <p:cNvSpPr txBox="1"/>
          <p:nvPr/>
        </p:nvSpPr>
        <p:spPr>
          <a:xfrm>
            <a:off x="3206008" y="248759"/>
            <a:ext cx="53076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86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82F942-03C0-D066-12CF-0AE530779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4DD6C6C-F50F-64CA-900D-5F9891926436}"/>
              </a:ext>
            </a:extLst>
          </p:cNvPr>
          <p:cNvSpPr txBox="1"/>
          <p:nvPr/>
        </p:nvSpPr>
        <p:spPr>
          <a:xfrm>
            <a:off x="3219061" y="448980"/>
            <a:ext cx="5015027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 dirty="0">
                <a:latin typeface="Times New Roman"/>
              </a:rPr>
              <a:t>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434C93-1734-C161-D5F9-FD3B877F2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493067"/>
              </p:ext>
            </p:extLst>
          </p:nvPr>
        </p:nvGraphicFramePr>
        <p:xfrm>
          <a:off x="783771" y="1612382"/>
          <a:ext cx="9237305" cy="390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56997">
                  <a:extLst>
                    <a:ext uri="{9D8B030D-6E8A-4147-A177-3AD203B41FA5}">
                      <a16:colId xmlns:a16="http://schemas.microsoft.com/office/drawing/2014/main" val="1725855325"/>
                    </a:ext>
                  </a:extLst>
                </a:gridCol>
                <a:gridCol w="3396344">
                  <a:extLst>
                    <a:ext uri="{9D8B030D-6E8A-4147-A177-3AD203B41FA5}">
                      <a16:colId xmlns:a16="http://schemas.microsoft.com/office/drawing/2014/main" val="1496963072"/>
                    </a:ext>
                  </a:extLst>
                </a:gridCol>
                <a:gridCol w="864637">
                  <a:extLst>
                    <a:ext uri="{9D8B030D-6E8A-4147-A177-3AD203B41FA5}">
                      <a16:colId xmlns:a16="http://schemas.microsoft.com/office/drawing/2014/main" val="1112196162"/>
                    </a:ext>
                  </a:extLst>
                </a:gridCol>
                <a:gridCol w="3819327">
                  <a:extLst>
                    <a:ext uri="{9D8B030D-6E8A-4147-A177-3AD203B41FA5}">
                      <a16:colId xmlns:a16="http://schemas.microsoft.com/office/drawing/2014/main" val="23998755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0147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Guided Student Profile System: Mentor Feedback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personalized guidance and progress tracking.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364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Mentorship-Driven Decision Support Platform for Career Planning in Undergraduate Engineering Education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 career planning.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4795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Bridging the Gap: Developing an Alumni Association Platform to Enhance Student Guidance and Institutional Connectivity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focus on continuous academic mentoring.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190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Enhancing Career Development: An AI-Driven Mentorship Platform for Student-Mentor Connections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focuses on AI-based mentor connections.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9398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663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2BD6F8-794D-AE0E-E169-E196395E0A29}"/>
              </a:ext>
            </a:extLst>
          </p:cNvPr>
          <p:cNvSpPr txBox="1"/>
          <p:nvPr/>
        </p:nvSpPr>
        <p:spPr>
          <a:xfrm>
            <a:off x="286138" y="1605094"/>
            <a:ext cx="1148287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Sadasivam, V. R., Sanjaykumar, V., Imam, A. S., &amp; Vasanthan, R. (2024). Guided Student Profile System: Mentor Feedback Integration. 2024 International Conference on Intelligent Systems for Cybersecurity (ISCS), IEEE, 1–5.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Dhumal, A. D. (2026). A Mentorship-Driven Decision Support Platform for Career Planning in Undergraduate Engineering Education.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Jaiswal, A., Solanki, P., Rathore, R., Pillai, S., Jain, S.,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Berchha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T., &amp; Toke, V. (2025). Bridging the Gap: Developing an Alumni Association Platform to Enhance Student Guidance and Institutional Connectivity. International Journal of Knowledge Based Computer Systems, 13(1), 38.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Charanya, P., Nidhish, M., Prajesh, U. R.,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Saktheeswar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K., &amp; Sanjana, S. P. (2025). Enhancing Career Development: An AI-Driven Mentorship Platform for Student-Mentor Connections. 2025 International Conference on Computational, Communication and Information Technology (ICCCIT), IEEE, 147–152.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9926EE-B41B-02B0-4BF1-1923F4778B6E}"/>
              </a:ext>
            </a:extLst>
          </p:cNvPr>
          <p:cNvSpPr txBox="1"/>
          <p:nvPr/>
        </p:nvSpPr>
        <p:spPr>
          <a:xfrm>
            <a:off x="4441371" y="522514"/>
            <a:ext cx="2717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71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695729-3F1E-B90E-5DF2-872C2F8FF69A}"/>
              </a:ext>
            </a:extLst>
          </p:cNvPr>
          <p:cNvSpPr txBox="1"/>
          <p:nvPr/>
        </p:nvSpPr>
        <p:spPr>
          <a:xfrm>
            <a:off x="8086530" y="5697893"/>
            <a:ext cx="3155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769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</TotalTime>
  <Words>540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Chakram Pothala</dc:creator>
  <cp:keywords/>
  <dc:description>generated using python-pptx</dc:description>
  <cp:lastModifiedBy>Chakram Pothala</cp:lastModifiedBy>
  <cp:revision>8</cp:revision>
  <dcterms:created xsi:type="dcterms:W3CDTF">2013-01-27T09:14:16Z</dcterms:created>
  <dcterms:modified xsi:type="dcterms:W3CDTF">2026-10-12T03:37:15Z</dcterms:modified>
  <cp:category/>
</cp:coreProperties>
</file>